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03B9C68-A91C-44A1-869E-A52D5B6EF3DA}">
  <a:tblStyle styleId="{E03B9C68-A91C-44A1-869E-A52D5B6EF3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f849e11f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f849e11f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f849e11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f849e11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f849e11f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f849e11f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f849e11f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f849e11f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f849e11f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f849e11f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f849e11f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f849e11f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f849e11f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f849e11f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fe926e1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fe926e1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fe926e10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fe926e10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gif"/><Relationship Id="rId4" Type="http://schemas.openxmlformats.org/officeDocument/2006/relationships/image" Target="../media/image6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gif"/><Relationship Id="rId4" Type="http://schemas.openxmlformats.org/officeDocument/2006/relationships/image" Target="../media/image8.gif"/><Relationship Id="rId5" Type="http://schemas.openxmlformats.org/officeDocument/2006/relationships/image" Target="../media/image7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81ACE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139025" y="-125"/>
            <a:ext cx="9005100" cy="5143500"/>
          </a:xfrm>
          <a:prstGeom prst="rect">
            <a:avLst/>
          </a:prstGeom>
          <a:ln cap="flat" cmpd="sng" w="9525">
            <a:solidFill>
              <a:srgbClr val="581A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71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  </a:t>
            </a:r>
            <a:endParaRPr sz="2000"/>
          </a:p>
          <a:p>
            <a:pPr indent="0" lvl="0" marL="1371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            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CS-566 Deep Reinforcement Learning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1371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          Bipedal Walker - Normal Version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1371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1371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1371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1371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1371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1371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         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1371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          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Course Instructor: Dr Nazar Khan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        Presented by: Rida Shahid - MSCSF25M015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                 Department of Computer Science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University of the Punjab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1371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457200" lvl="0" marL="1371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457200" lvl="0" marL="1371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457200" lvl="0" marL="1371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68" name="Google Shape;6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8950" y="1620275"/>
            <a:ext cx="1406100" cy="1406100"/>
          </a:xfrm>
          <a:prstGeom prst="rect">
            <a:avLst/>
          </a:prstGeom>
          <a:noFill/>
          <a:ln cap="flat" cmpd="sng" w="9525">
            <a:solidFill>
              <a:srgbClr val="581ACE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/>
        </p:nvSpPr>
        <p:spPr>
          <a:xfrm>
            <a:off x="0" y="0"/>
            <a:ext cx="9144000" cy="806400"/>
          </a:xfrm>
          <a:prstGeom prst="rect">
            <a:avLst/>
          </a:prstGeom>
          <a:solidFill>
            <a:srgbClr val="581A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0" y="861875"/>
            <a:ext cx="51900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81ACE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">
                <a:solidFill>
                  <a:srgbClr val="581ACE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What is it?</a:t>
            </a:r>
            <a:endParaRPr b="1">
              <a:solidFill>
                <a:srgbClr val="581ACE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just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4-joint walker robot on uneven terrain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simulation built on the </a:t>
            </a: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Box2D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physics engine.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just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Part of Gymnasium's Box2D environment suite.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81AC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Problem</a:t>
            </a:r>
            <a:r>
              <a:rPr b="1" lang="en">
                <a:solidFill>
                  <a:srgbClr val="581AC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>
              <a:solidFill>
                <a:srgbClr val="581AC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581AC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just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The robot must learn to walk across uneven terrain using only raw sensor data, no coordinates, just hull angles, joint states, and LIDAR.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81AC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Goal:</a:t>
            </a:r>
            <a:r>
              <a:rPr b="1" lang="en">
                <a:solidFill>
                  <a:srgbClr val="581AC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>
              <a:solidFill>
                <a:srgbClr val="581AC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581AC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just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Accumulate </a:t>
            </a: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300+ points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by moving as far right as possible, as efficiently as possible, within the step limit — without the hull ever touching the ground.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5" name="Google Shape;75;p14" title="ezgif.com-animated-gif-maker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6050" y="1355350"/>
            <a:ext cx="3649200" cy="2432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6" name="Google Shape;76;p14"/>
          <p:cNvSpPr txBox="1"/>
          <p:nvPr/>
        </p:nvSpPr>
        <p:spPr>
          <a:xfrm>
            <a:off x="5591550" y="3862300"/>
            <a:ext cx="30582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                     A bipedal walker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/>
        </p:nvSpPr>
        <p:spPr>
          <a:xfrm>
            <a:off x="0" y="0"/>
            <a:ext cx="9144000" cy="806400"/>
          </a:xfrm>
          <a:prstGeom prst="rect">
            <a:avLst/>
          </a:prstGeom>
          <a:solidFill>
            <a:srgbClr val="581A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Environment: Bipedal Walker - Normal version</a:t>
            </a:r>
            <a:endParaRPr b="1"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137400" y="806400"/>
            <a:ext cx="4885500" cy="42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81AC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 Space:</a:t>
            </a:r>
            <a:endParaRPr b="1">
              <a:solidFill>
                <a:srgbClr val="581AC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Type: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Continuous — </a:t>
            </a:r>
            <a:r>
              <a:rPr lang="en" sz="12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Box(-1.0, 1.0, shape=(4,), float32)</a:t>
            </a:r>
            <a:endParaRPr sz="12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Controls </a:t>
            </a: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motor speed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for 4 joints: 2 hips + 2 knees.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Values range from </a:t>
            </a: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−1 to +1.</a:t>
            </a:r>
            <a:b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81AC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Observation Space: </a:t>
            </a:r>
            <a:endParaRPr b="1">
              <a:solidFill>
                <a:srgbClr val="581AC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581AC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Type: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Continuous—</a:t>
            </a:r>
            <a:r>
              <a:rPr lang="en" sz="12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Box([lower bound], [upper bound], shape=(24,), float32)</a:t>
            </a:r>
            <a:endParaRPr sz="12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Includes:</a:t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Hull angle, angular velocity.</a:t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Horizontal &amp; vertical speed.</a:t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Joint positions &amp; angular speeds, LIDAR, etc.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81AC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Reward:</a:t>
            </a:r>
            <a:endParaRPr b="1">
              <a:solidFill>
                <a:srgbClr val="581AC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+300 for reaching the far end.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-100 if the hull hits the ground.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Small penalty per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motor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torque applied.</a:t>
            </a:r>
            <a:b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3" name="Google Shape;83;p15" title="Screenshot 2026-05-09 at 4.16.3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0350" y="1322925"/>
            <a:ext cx="3330200" cy="24976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4" name="Google Shape;84;p15"/>
          <p:cNvSpPr txBox="1"/>
          <p:nvPr/>
        </p:nvSpPr>
        <p:spPr>
          <a:xfrm>
            <a:off x="4785050" y="3938700"/>
            <a:ext cx="35589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             Action and observation states of robot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/>
        </p:nvSpPr>
        <p:spPr>
          <a:xfrm>
            <a:off x="0" y="0"/>
            <a:ext cx="9144000" cy="806400"/>
          </a:xfrm>
          <a:prstGeom prst="rect">
            <a:avLst/>
          </a:prstGeom>
          <a:solidFill>
            <a:srgbClr val="581A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Training Setup</a:t>
            </a:r>
            <a:endParaRPr b="1"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13050" y="852750"/>
            <a:ext cx="9117900" cy="52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81ACE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>
              <a:solidFill>
                <a:srgbClr val="581ACE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81ACE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Algorithm: </a:t>
            </a:r>
            <a:endParaRPr b="1">
              <a:solidFill>
                <a:srgbClr val="581ACE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just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As a result of the study</a:t>
            </a:r>
            <a:r>
              <a:rPr baseline="30000" lang="en" sz="1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, the </a:t>
            </a: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Soft Actor-Critic (SAC)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reinforcement learning algorithm proved to be the most suitable approach, achieving high training stability and the highest performance score. Therefore, SAC was selected to train the Bipedal Walker agent.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81ACE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Hyperparameters:</a:t>
            </a:r>
            <a:endParaRPr b="1">
              <a:solidFill>
                <a:srgbClr val="581ACE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      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The training hyperparameters were selected based on values optimized in the paper</a:t>
            </a:r>
            <a:r>
              <a:rPr baseline="30000" lang="en" sz="12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using TPE optimization.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Learning Rate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(η) =   2.52e</a:t>
            </a:r>
            <a:r>
              <a:rPr baseline="30000" lang="en" sz="1200">
                <a:latin typeface="Times New Roman"/>
                <a:ea typeface="Times New Roman"/>
                <a:cs typeface="Times New Roman"/>
                <a:sym typeface="Times New Roman"/>
              </a:rPr>
              <a:t>-3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Discount Factor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(γ) =    0.96667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Polyak update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(τ) = 1.68e</a:t>
            </a:r>
            <a:r>
              <a:rPr baseline="30000" lang="en" sz="1200"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81AC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Hardware &amp; Software:</a:t>
            </a:r>
            <a:endParaRPr b="1">
              <a:solidFill>
                <a:srgbClr val="581AC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581AC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just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CPU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: 2.9 GHz 6-Core Intel Core i9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just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RAM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: 32GB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just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Platform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: Google Colab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just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Libraries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: Stable-baselines3/Gymnasium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581AC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Times New Roman"/>
              <a:buAutoNum type="arabicPeriod"/>
            </a:pPr>
            <a:r>
              <a:rPr lang="en" sz="10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O. Aydogmus, M. Yilmaz: Comparative Analysis of Reinforcement Learning Algorithms for Bipedal Robot Locomotion</a:t>
            </a:r>
            <a:endParaRPr sz="10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/>
        </p:nvSpPr>
        <p:spPr>
          <a:xfrm>
            <a:off x="0" y="0"/>
            <a:ext cx="9144000" cy="806400"/>
          </a:xfrm>
          <a:prstGeom prst="rect">
            <a:avLst/>
          </a:prstGeom>
          <a:solidFill>
            <a:srgbClr val="581A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Results - Soft Actor-Critic (SAC)</a:t>
            </a:r>
            <a:endParaRPr b="1"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p17" title="download1-ezgif.com-video-to-gif-converter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325" y="1200150"/>
            <a:ext cx="3657600" cy="27432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" name="Google Shape;97;p17" title="1M-SAC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375" y="1200138"/>
            <a:ext cx="3657600" cy="2743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8" name="Google Shape;98;p17"/>
          <p:cNvSpPr txBox="1"/>
          <p:nvPr/>
        </p:nvSpPr>
        <p:spPr>
          <a:xfrm>
            <a:off x="694375" y="4026125"/>
            <a:ext cx="36576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                   </a:t>
            </a: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1M Training Timesteps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(Robot is struggling)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4633325" y="4026125"/>
            <a:ext cx="36576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                  </a:t>
            </a: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M Training Timesteps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                     (Robot is taking smooth steps)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/>
        </p:nvSpPr>
        <p:spPr>
          <a:xfrm>
            <a:off x="0" y="0"/>
            <a:ext cx="9144000" cy="806400"/>
          </a:xfrm>
          <a:prstGeom prst="rect">
            <a:avLst/>
          </a:prstGeom>
          <a:solidFill>
            <a:srgbClr val="581A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Statistics of trained SAC agent</a:t>
            </a:r>
            <a:endParaRPr b="1"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5" name="Google Shape;105;p18"/>
          <p:cNvGraphicFramePr/>
          <p:nvPr/>
        </p:nvGraphicFramePr>
        <p:xfrm>
          <a:off x="4309575" y="172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{E03B9C68-A91C-44A1-869E-A52D5B6EF3DA}</a:tableStyleId>
              </a:tblPr>
              <a:tblGrid>
                <a:gridCol w="1299425"/>
                <a:gridCol w="1317075"/>
                <a:gridCol w="1434375"/>
              </a:tblGrid>
              <a:tr h="54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SAC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1M Timesteps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2M Timesteps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 Time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 hours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 hours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 Reward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302.2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325.1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 Step Count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660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" name="Google Shape;106;p18"/>
          <p:cNvSpPr txBox="1"/>
          <p:nvPr/>
        </p:nvSpPr>
        <p:spPr>
          <a:xfrm>
            <a:off x="491175" y="1308125"/>
            <a:ext cx="35589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81AC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Reproduction:</a:t>
            </a:r>
            <a:endParaRPr b="1">
              <a:solidFill>
                <a:srgbClr val="581AC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Soft Actor-Critic algorithm with optimized hyperparameters were tested 10 times in the same environment, and a performance analysis was conducted. SAC, consistently scored approximately 325 points in all tests, resulting in a satisfactory average of 325 points.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reproduced results closely matched the paper’s</a:t>
            </a:r>
            <a:r>
              <a:rPr baseline="30000" lang="en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reported performance, indicating stable and reliable training behavior.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/>
        </p:nvSpPr>
        <p:spPr>
          <a:xfrm>
            <a:off x="0" y="0"/>
            <a:ext cx="9144000" cy="806400"/>
          </a:xfrm>
          <a:prstGeom prst="rect">
            <a:avLst/>
          </a:prstGeom>
          <a:solidFill>
            <a:srgbClr val="581A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Other Algorithm Results: Proximal Policy Optimization (PPO)</a:t>
            </a:r>
            <a:endParaRPr b="1" sz="2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111200" y="861875"/>
            <a:ext cx="8878200" cy="42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3" name="Google Shape;113;p19" title="eval-1M-params-ezgif.com-video-to-gif-converter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975" y="1169025"/>
            <a:ext cx="27432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 title="eval-5M-params-ezgif.com-video-to-gif-converter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2088" y="1169025"/>
            <a:ext cx="27432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 title="eval-10M-params-ezgif.com-video-to-gif-converter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4225" y="1169013"/>
            <a:ext cx="27432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 txBox="1"/>
          <p:nvPr/>
        </p:nvSpPr>
        <p:spPr>
          <a:xfrm>
            <a:off x="379975" y="1169025"/>
            <a:ext cx="14829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1M steps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3242088" y="1169025"/>
            <a:ext cx="14829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M steps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6104225" y="1169025"/>
            <a:ext cx="14829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10M steps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9" name="Google Shape;119;p19"/>
          <p:cNvGraphicFramePr/>
          <p:nvPr/>
        </p:nvGraphicFramePr>
        <p:xfrm>
          <a:off x="379975" y="312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{E03B9C68-A91C-44A1-869E-A52D5B6EF3DA}</a:tableStyleId>
              </a:tblPr>
              <a:tblGrid>
                <a:gridCol w="1815000"/>
                <a:gridCol w="1983800"/>
                <a:gridCol w="2160475"/>
                <a:gridCol w="2508175"/>
              </a:tblGrid>
              <a:tr h="54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PPO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1M Timesteps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5M Timesteps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10M 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Timesteps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 Time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 Minutes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Hours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5.5 Hours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 Reward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184.5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200.8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146.5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 Step Count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1267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667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/>
        </p:nvSpPr>
        <p:spPr>
          <a:xfrm>
            <a:off x="0" y="0"/>
            <a:ext cx="9144000" cy="806400"/>
          </a:xfrm>
          <a:prstGeom prst="rect">
            <a:avLst/>
          </a:prstGeom>
          <a:solidFill>
            <a:srgbClr val="581A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Optimal Hyperparameters used for training for PPO &amp; SAC</a:t>
            </a:r>
            <a:endParaRPr b="1"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5" name="Google Shape;125;p20"/>
          <p:cNvGraphicFramePr/>
          <p:nvPr/>
        </p:nvGraphicFramePr>
        <p:xfrm>
          <a:off x="1666100" y="1930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{E03B9C68-A91C-44A1-869E-A52D5B6EF3DA}</a:tableStyleId>
              </a:tblPr>
              <a:tblGrid>
                <a:gridCol w="1999450"/>
                <a:gridCol w="1511700"/>
                <a:gridCol w="1540700"/>
              </a:tblGrid>
              <a:tr h="12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Hyperparameters</a:t>
                      </a:r>
                      <a:r>
                        <a:rPr b="1" baseline="30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30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PPO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SAC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Learning Rate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(η)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8.27e</a:t>
                      </a:r>
                      <a:r>
                        <a:rPr baseline="30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-4</a:t>
                      </a:r>
                      <a:endParaRPr baseline="30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2.52e</a:t>
                      </a:r>
                      <a:r>
                        <a:rPr baseline="30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</a:t>
                      </a:r>
                      <a:endParaRPr baseline="30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Discount Factor 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(γ)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0.96979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0.96667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GAE Parameter 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(λ)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0.92680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Entropy Coef.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(β)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1.99e</a:t>
                      </a:r>
                      <a:r>
                        <a:rPr baseline="30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-5</a:t>
                      </a:r>
                      <a:endParaRPr baseline="30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-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Polyak update 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(τ)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-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1.68e</a:t>
                      </a:r>
                      <a:r>
                        <a:rPr baseline="30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 baseline="30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" name="Google Shape;126;p20"/>
          <p:cNvSpPr txBox="1"/>
          <p:nvPr/>
        </p:nvSpPr>
        <p:spPr>
          <a:xfrm>
            <a:off x="574600" y="4670850"/>
            <a:ext cx="79980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2335425" y="4865475"/>
            <a:ext cx="533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574600" y="1075050"/>
            <a:ext cx="58665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Hyperparameters were optimized using TPE (Tree-structured Parzen Estimator), a Bayesian hyperparameter search method.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/>
        </p:nvSpPr>
        <p:spPr>
          <a:xfrm>
            <a:off x="0" y="0"/>
            <a:ext cx="9144000" cy="806400"/>
          </a:xfrm>
          <a:prstGeom prst="rect">
            <a:avLst/>
          </a:prstGeom>
          <a:solidFill>
            <a:srgbClr val="581A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SAC vs PPO Comparison </a:t>
            </a:r>
            <a:endParaRPr b="1"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4" name="Google Shape;134;p21"/>
          <p:cNvGraphicFramePr/>
          <p:nvPr/>
        </p:nvGraphicFramePr>
        <p:xfrm>
          <a:off x="4572000" y="1688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{E03B9C68-A91C-44A1-869E-A52D5B6EF3DA}</a:tableStyleId>
              </a:tblPr>
              <a:tblGrid>
                <a:gridCol w="1299425"/>
                <a:gridCol w="1317075"/>
                <a:gridCol w="1434375"/>
              </a:tblGrid>
              <a:tr h="63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SAC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PPO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 Time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Very slow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Very fast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 Reward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Sample 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Efficient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5" name="Google Shape;135;p21"/>
          <p:cNvSpPr txBox="1"/>
          <p:nvPr/>
        </p:nvSpPr>
        <p:spPr>
          <a:xfrm>
            <a:off x="565325" y="1624050"/>
            <a:ext cx="3605100" cy="20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81AC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</a:t>
            </a:r>
            <a:endParaRPr b="1">
              <a:solidFill>
                <a:srgbClr val="581AC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SAC wins on performance, PPO wins on speed.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Continuous control favors off-policy methods like SAC.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SAC showed more stable training behavior with less variance in rewards, while PPO's reward actually dropped from 5M to 10M timesteps showing  instability.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/>
        </p:nvSpPr>
        <p:spPr>
          <a:xfrm>
            <a:off x="2020350" y="1598700"/>
            <a:ext cx="4967400" cy="1946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                            </a:t>
            </a: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